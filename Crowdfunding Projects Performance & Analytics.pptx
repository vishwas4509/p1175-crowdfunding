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46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68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32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85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17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75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3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78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3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89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2781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143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997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763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053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4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32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4C85-B9F3-0A6C-8491-3BC719F8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2398" y="2320822"/>
            <a:ext cx="8732583" cy="1783735"/>
          </a:xfrm>
        </p:spPr>
        <p:txBody>
          <a:bodyPr/>
          <a:lstStyle/>
          <a:p>
            <a:pPr algn="ctr"/>
            <a:r>
              <a:rPr lang="en-US" b="1" dirty="0"/>
              <a:t> Crowdfunding Projects Performance &amp; Analytics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3816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88ACA-7F35-1E3C-FE2D-F13C0C407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78194"/>
            <a:ext cx="9905999" cy="5250425"/>
          </a:xfrm>
        </p:spPr>
        <p:txBody>
          <a:bodyPr>
            <a:normAutofit/>
          </a:bodyPr>
          <a:lstStyle/>
          <a:p>
            <a:r>
              <a:rPr lang="en-US" b="1" dirty="0"/>
              <a:t>Tools Used :- Excel</a:t>
            </a:r>
            <a:r>
              <a:rPr lang="en-US" dirty="0">
                <a:latin typeface="Arial Rounded MT Bold" panose="020F0704030504030204" pitchFamily="34" charset="0"/>
              </a:rPr>
              <a:t> | Tableau| Power B | SQL</a:t>
            </a:r>
          </a:p>
          <a:p>
            <a:r>
              <a:rPr lang="en-US" b="1" dirty="0"/>
              <a:t>Prepared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/>
              <a:t>By:-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b="1" dirty="0"/>
              <a:t>Sakshi Pimple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IN" sz="2000" b="1" dirty="0"/>
              <a:t>Sarvadnya </a:t>
            </a:r>
            <a:r>
              <a:rPr lang="en-IN" sz="2000" b="1" dirty="0" err="1"/>
              <a:t>Thube</a:t>
            </a:r>
            <a:endParaRPr lang="en-IN" sz="2000" b="1" dirty="0"/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b="1" dirty="0"/>
              <a:t>Vishwas Dinesh </a:t>
            </a:r>
            <a:r>
              <a:rPr lang="en-IN" sz="2000" b="1" dirty="0" err="1"/>
              <a:t>Tuvar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	Babita Yadav</a:t>
            </a:r>
          </a:p>
          <a:p>
            <a:pPr marL="0" indent="0">
              <a:buNone/>
            </a:pPr>
            <a:r>
              <a:rPr lang="en-IN" sz="2000" b="1" dirty="0"/>
              <a:t>	</a:t>
            </a:r>
            <a:r>
              <a:rPr lang="en-IN" sz="2000" b="1" dirty="0" err="1"/>
              <a:t>soora</a:t>
            </a:r>
            <a:r>
              <a:rPr lang="en-IN" sz="2000" b="1" dirty="0"/>
              <a:t> Maheswari</a:t>
            </a:r>
          </a:p>
          <a:p>
            <a:pPr marL="0" indent="0">
              <a:buNone/>
            </a:pPr>
            <a:r>
              <a:rPr lang="en-IN" sz="2000" b="1" dirty="0"/>
              <a:t>	Tejas Arun Shinde</a:t>
            </a:r>
          </a:p>
          <a:p>
            <a:pPr marL="0" indent="0">
              <a:buNone/>
            </a:pPr>
            <a:r>
              <a:rPr lang="en-IN" sz="2000" b="1" dirty="0"/>
              <a:t>	Vishwas Dinesh </a:t>
            </a:r>
            <a:r>
              <a:rPr lang="en-IN" sz="2000" b="1" dirty="0" err="1"/>
              <a:t>Tuvar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	Raxit Pansuriya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3131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444D-5B04-A1BC-79F2-BF13D514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C10E1-883B-C1B1-0DA0-3773D1693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Crowdfunding platforms have thousands of projects, but not all of them reach their funding goals.</a:t>
            </a:r>
            <a:br>
              <a:rPr lang="en-US" b="1" dirty="0"/>
            </a:br>
            <a:r>
              <a:rPr lang="en-US" b="1" dirty="0"/>
              <a:t>This project looks at crowdfunding data to:</a:t>
            </a:r>
          </a:p>
          <a:p>
            <a:pPr lvl="1"/>
            <a:r>
              <a:rPr lang="en-US" b="1" dirty="0"/>
              <a:t>Find patterns that lead to success</a:t>
            </a:r>
          </a:p>
          <a:p>
            <a:pPr lvl="1"/>
            <a:r>
              <a:rPr lang="en-US" b="1" dirty="0"/>
              <a:t>Evaluate how well projects are funded</a:t>
            </a:r>
          </a:p>
          <a:p>
            <a:pPr lvl="1"/>
            <a:r>
              <a:rPr lang="en-US" b="1" dirty="0"/>
              <a:t>Analyze trends by category and country</a:t>
            </a:r>
          </a:p>
          <a:p>
            <a:pPr lvl="1"/>
            <a:r>
              <a:rPr lang="en-US" b="1" dirty="0"/>
              <a:t>Measure the overall success rate</a:t>
            </a:r>
          </a:p>
          <a:p>
            <a:r>
              <a:rPr lang="en-US" b="1" dirty="0"/>
              <a:t>The goal is to use SQL to get insights from the data and then show these insights using dashboards in Excel, Tableau, and Power BI.</a:t>
            </a:r>
          </a:p>
        </p:txBody>
      </p:sp>
    </p:spTree>
    <p:extLst>
      <p:ext uri="{BB962C8B-B14F-4D97-AF65-F5344CB8AC3E}">
        <p14:creationId xmlns:p14="http://schemas.microsoft.com/office/powerpoint/2010/main" val="369723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1198-BB28-D977-BBD3-3909CE80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📊 </a:t>
            </a:r>
            <a:r>
              <a:rPr lang="en-IN" b="1" dirty="0"/>
              <a:t>KPIs &amp; Insights Slide</a:t>
            </a:r>
            <a:br>
              <a:rPr lang="en-IN" dirty="0"/>
            </a:br>
            <a:r>
              <a:rPr lang="en-IN" dirty="0"/>
              <a:t>		</a:t>
            </a:r>
            <a:r>
              <a:rPr lang="en-IN" sz="2400" b="1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93112-5E73-58FD-E3BC-D2ED63816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Total Projects: 365,892</a:t>
            </a:r>
          </a:p>
          <a:p>
            <a:r>
              <a:rPr lang="en-US" dirty="0"/>
              <a:t>Total Backers: 45M</a:t>
            </a:r>
          </a:p>
          <a:p>
            <a:r>
              <a:rPr lang="en-US" dirty="0"/>
              <a:t>Total USD Pledged: $3.85B</a:t>
            </a:r>
          </a:p>
          <a:p>
            <a:r>
              <a:rPr lang="en-US" dirty="0"/>
              <a:t>Total Categories: 169</a:t>
            </a:r>
          </a:p>
          <a:p>
            <a:r>
              <a:rPr lang="en-US" dirty="0"/>
              <a:t>Total Locations: 22K</a:t>
            </a:r>
          </a:p>
          <a:p>
            <a:r>
              <a:rPr lang="en-US" dirty="0"/>
              <a:t>Overall Success Rate: 38%🔎 </a:t>
            </a:r>
          </a:p>
        </p:txBody>
      </p:sp>
    </p:spTree>
    <p:extLst>
      <p:ext uri="{BB962C8B-B14F-4D97-AF65-F5344CB8AC3E}">
        <p14:creationId xmlns:p14="http://schemas.microsoft.com/office/powerpoint/2010/main" val="262422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F9BF-8DA3-4614-B40C-7A0EA15D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🔎 Key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7B35-7FC8-65F0-FA67-F20EC84CE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77961"/>
            <a:ext cx="9905999" cy="3913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🔹 Failure rate (~52%) is higher than success rate.</a:t>
            </a:r>
          </a:p>
          <a:p>
            <a:pPr marL="0" indent="0">
              <a:buNone/>
            </a:pPr>
            <a:r>
              <a:rPr lang="en-US" dirty="0"/>
              <a:t>🔹 US contributes the highest number of projects.</a:t>
            </a:r>
          </a:p>
          <a:p>
            <a:pPr marL="0" indent="0">
              <a:buNone/>
            </a:pPr>
            <a:r>
              <a:rPr lang="en-US" dirty="0"/>
              <a:t>🔹 Product Design &amp; Games dominate categories.</a:t>
            </a:r>
          </a:p>
          <a:p>
            <a:pPr marL="0" indent="0">
              <a:buNone/>
            </a:pPr>
            <a:r>
              <a:rPr lang="en-US" dirty="0"/>
              <a:t>🔹 Average pledged amount ≈ $10,538.</a:t>
            </a:r>
          </a:p>
          <a:p>
            <a:pPr marL="0" indent="0">
              <a:buNone/>
            </a:pPr>
            <a:r>
              <a:rPr lang="en-US" dirty="0"/>
              <a:t>🔹 Top-funded projects exceed multi-million USD funding.</a:t>
            </a:r>
          </a:p>
          <a:p>
            <a:pPr marL="0" indent="0">
              <a:buNone/>
            </a:pPr>
            <a:r>
              <a:rPr lang="en-US" dirty="0"/>
              <a:t>🔹 Funding activity peaked around 2014–2016.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577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8609-17BF-2493-DB17-8341246D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01445"/>
            <a:ext cx="9905998" cy="1595643"/>
          </a:xfrm>
        </p:spPr>
        <p:txBody>
          <a:bodyPr/>
          <a:lstStyle/>
          <a:p>
            <a:r>
              <a:rPr lang="en-IN" b="1" dirty="0"/>
              <a:t>Excel Dashboard Slide</a:t>
            </a:r>
            <a:br>
              <a:rPr lang="en-IN" b="1" dirty="0"/>
            </a:br>
            <a:r>
              <a:rPr lang="en-IN" b="1" dirty="0"/>
              <a:t>	 📊 Excel Dashboard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4BE9-4CBC-60E5-F491-5BF8AD5A4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Year-wise project growth trend Category-wise project </a:t>
            </a:r>
          </a:p>
          <a:p>
            <a:r>
              <a:rPr lang="en-US" dirty="0"/>
              <a:t>Distribution Projects by outcome (Successful, Failed, Cancelled)</a:t>
            </a:r>
          </a:p>
          <a:p>
            <a:r>
              <a:rPr lang="en-US" dirty="0"/>
              <a:t>Top 10 locations by project</a:t>
            </a:r>
          </a:p>
          <a:p>
            <a:r>
              <a:rPr lang="en-US" dirty="0"/>
              <a:t> </a:t>
            </a:r>
            <a:r>
              <a:rPr lang="en-US" dirty="0" err="1"/>
              <a:t>countAvg</a:t>
            </a:r>
            <a:r>
              <a:rPr lang="en-US" dirty="0"/>
              <a:t> Goal vs Avg Pledged</a:t>
            </a:r>
          </a:p>
          <a:p>
            <a:r>
              <a:rPr lang="en-US" dirty="0"/>
              <a:t> comparison Overall Success Rate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737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1A10-249F-2D8D-3451-2D2559F1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Excel Dashboard Image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FF00BF-A042-980B-8505-18E23CA15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523" y="1692346"/>
            <a:ext cx="8410563" cy="40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6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9069-1B51-DD56-DFD1-9843D8DB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Tableau Dashboard Slide</a:t>
            </a:r>
            <a:br>
              <a:rPr lang="en-US" b="1" dirty="0"/>
            </a:br>
            <a:r>
              <a:rPr lang="en-US" b="1" dirty="0"/>
              <a:t>	📈 Tableau Dashboard Highlights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F9543-647C-2929-8AB3-75C951E98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status distribution </a:t>
            </a:r>
          </a:p>
          <a:p>
            <a:r>
              <a:rPr lang="en-US" dirty="0"/>
              <a:t>Top 10 categories by amount raised</a:t>
            </a:r>
          </a:p>
          <a:p>
            <a:r>
              <a:rPr lang="en-US" dirty="0"/>
              <a:t>Goals distribution by country</a:t>
            </a:r>
          </a:p>
          <a:p>
            <a:r>
              <a:rPr lang="en-US" dirty="0"/>
              <a:t>Year-wise funding trend (%)</a:t>
            </a:r>
          </a:p>
          <a:p>
            <a:r>
              <a:rPr lang="en-US" dirty="0"/>
              <a:t>Top projects by backers count</a:t>
            </a:r>
          </a:p>
          <a:p>
            <a:r>
              <a:rPr lang="en-US" dirty="0"/>
              <a:t>Interactive filters (Year, Country, State)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6578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9552-89EB-F620-ABA8-E568B53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9"/>
            <a:ext cx="9644574" cy="679340"/>
          </a:xfrm>
        </p:spPr>
        <p:txBody>
          <a:bodyPr>
            <a:normAutofit/>
          </a:bodyPr>
          <a:lstStyle/>
          <a:p>
            <a:r>
              <a:rPr lang="en-US" dirty="0"/>
              <a:t>Tableau Dashboard Image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22D11-3555-5620-25AB-4E0B43DD4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97860"/>
            <a:ext cx="10018711" cy="4493342"/>
          </a:xfrm>
        </p:spPr>
        <p:txBody>
          <a:bodyPr/>
          <a:lstStyle/>
          <a:p>
            <a:r>
              <a:rPr lang="en-US" dirty="0"/>
              <a:t>📌 Insight: Interactive analysis shows strong US dominance and category concentration in Product Design.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F0CCC-1BD6-79EF-E26E-67D345960C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35" t="8607" r="6821" b="8788"/>
          <a:stretch>
            <a:fillRect/>
          </a:stretch>
        </p:blipFill>
        <p:spPr>
          <a:xfrm>
            <a:off x="1743075" y="2400300"/>
            <a:ext cx="8258176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52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01FB-9CC9-9907-C82F-E9ED52CC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60439"/>
            <a:ext cx="9905998" cy="1536649"/>
          </a:xfrm>
        </p:spPr>
        <p:txBody>
          <a:bodyPr/>
          <a:lstStyle/>
          <a:p>
            <a:r>
              <a:rPr lang="en-US" b="1" dirty="0"/>
              <a:t>Power BI Dashboard Slide</a:t>
            </a:r>
            <a:br>
              <a:rPr lang="en-US" b="1" dirty="0"/>
            </a:br>
            <a:r>
              <a:rPr lang="en-US" b="1" dirty="0"/>
              <a:t>	📊 Power BI Dashboard Highlights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B5760-57BF-ADC5-6517-5BE508231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KPI Cards (Backers, Pledged, Projects, Categories, Locations)</a:t>
            </a:r>
          </a:p>
          <a:p>
            <a:r>
              <a:rPr lang="en-US" dirty="0"/>
              <a:t>Monthly funding trend line</a:t>
            </a:r>
          </a:p>
          <a:p>
            <a:r>
              <a:rPr lang="en-US" dirty="0"/>
              <a:t>Category funding % breakdown</a:t>
            </a:r>
          </a:p>
          <a:p>
            <a:r>
              <a:rPr lang="en-US" dirty="0"/>
              <a:t>Country-wise project count</a:t>
            </a:r>
          </a:p>
          <a:p>
            <a:r>
              <a:rPr lang="en-US" dirty="0"/>
              <a:t>Funding gap gauge visualization</a:t>
            </a:r>
          </a:p>
          <a:p>
            <a:r>
              <a:rPr lang="en-US" dirty="0"/>
              <a:t>Category vs Backers scatter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52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C7E6-8D32-4C97-BA06-BC03EFF0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03805"/>
          </a:xfrm>
        </p:spPr>
        <p:txBody>
          <a:bodyPr>
            <a:normAutofit/>
          </a:bodyPr>
          <a:lstStyle/>
          <a:p>
            <a:r>
              <a:rPr lang="en-US" sz="3200" b="1" dirty="0"/>
              <a:t>Power BI Dashboard Image 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3480-B981-806D-708E-267F0EAAA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5342"/>
            <a:ext cx="9905999" cy="4345859"/>
          </a:xfrm>
        </p:spPr>
        <p:txBody>
          <a:bodyPr/>
          <a:lstStyle/>
          <a:p>
            <a:r>
              <a:rPr lang="en-US" dirty="0"/>
              <a:t>📌 Insight: Funding is concentrated in specific categories with high backer engagement.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365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3F06-1A4A-5E58-9EC4-4D5A7C00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903" y="480866"/>
            <a:ext cx="9905998" cy="1478570"/>
          </a:xfrm>
        </p:spPr>
        <p:txBody>
          <a:bodyPr/>
          <a:lstStyle/>
          <a:p>
            <a:r>
              <a:rPr lang="en-US" b="1" dirty="0"/>
              <a:t>SQL Queries Output Slide</a:t>
            </a:r>
            <a:br>
              <a:rPr lang="en-US" b="1" dirty="0"/>
            </a:br>
            <a:r>
              <a:rPr lang="en-US" b="1" dirty="0"/>
              <a:t>	 SQL Analysis Performed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8852-21E6-13B2-054D-CD46125F1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41423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✔ COUNT() → Total records validation</a:t>
            </a:r>
          </a:p>
          <a:p>
            <a:pPr marL="0" indent="0">
              <a:buNone/>
            </a:pPr>
            <a:r>
              <a:rPr lang="en-IN" dirty="0"/>
              <a:t>✔ SUM() &amp; AVG() → Financial metrics</a:t>
            </a:r>
          </a:p>
          <a:p>
            <a:pPr marL="0" indent="0">
              <a:buNone/>
            </a:pPr>
            <a:r>
              <a:rPr lang="en-IN" dirty="0"/>
              <a:t>✔ GROUP BY → State &amp; Country analysis</a:t>
            </a:r>
          </a:p>
          <a:p>
            <a:pPr marL="0" indent="0">
              <a:buNone/>
            </a:pPr>
            <a:r>
              <a:rPr lang="en-IN" dirty="0"/>
              <a:t>✔ JOIN → Category-wise performance</a:t>
            </a:r>
          </a:p>
          <a:p>
            <a:pPr marL="0" indent="0">
              <a:buNone/>
            </a:pPr>
            <a:r>
              <a:rPr lang="en-IN" dirty="0"/>
              <a:t>✔ SUBQUERY → Above-average funded projects</a:t>
            </a:r>
          </a:p>
          <a:p>
            <a:pPr marL="0" indent="0">
              <a:buNone/>
            </a:pPr>
            <a:r>
              <a:rPr lang="en-IN" dirty="0"/>
              <a:t>✔ CASE WHEN → Success rate calculation</a:t>
            </a:r>
          </a:p>
          <a:p>
            <a:pPr marL="0" indent="0">
              <a:buNone/>
            </a:pPr>
            <a:r>
              <a:rPr lang="en-IN" dirty="0"/>
              <a:t>✔ WINDOW FUNCTION (RANK()) → Top funded projects ranking</a:t>
            </a:r>
          </a:p>
          <a:p>
            <a:pPr marL="0" indent="0">
              <a:buNone/>
            </a:pPr>
            <a:r>
              <a:rPr lang="en-IN" dirty="0"/>
              <a:t>✔ VIEW → Simplified reporting structure</a:t>
            </a:r>
          </a:p>
          <a:p>
            <a:pPr marL="0" indent="0">
              <a:buNone/>
            </a:pPr>
            <a:r>
              <a:rPr lang="en-IN" dirty="0"/>
              <a:t>✔ STORED PROCEDURE → Dynamic high-funded project extraction</a:t>
            </a:r>
          </a:p>
        </p:txBody>
      </p:sp>
    </p:spTree>
    <p:extLst>
      <p:ext uri="{BB962C8B-B14F-4D97-AF65-F5344CB8AC3E}">
        <p14:creationId xmlns:p14="http://schemas.microsoft.com/office/powerpoint/2010/main" val="1198105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6A22-2AE6-1B56-798F-737DD0E9D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Queries Output Image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DCECD-1CD1-FABE-3F80-27C475693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43075"/>
            <a:ext cx="9905999" cy="8572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📌 Demonstrated advanced SQL concepts with real dataset.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09DD64-390C-CC4F-BB3E-1A5B1CD60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2386013"/>
            <a:ext cx="4471988" cy="2114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FA07A4-D62A-3565-6EF0-FA2DF888C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668" y="4629150"/>
            <a:ext cx="4429743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3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2A31F-E8B1-F0E7-EFD3-ADB74FDB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 Slide</a:t>
            </a:r>
            <a:br>
              <a:rPr lang="en-US" dirty="0"/>
            </a:br>
            <a:r>
              <a:rPr lang="en-US" dirty="0"/>
              <a:t>	🎯 Project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6FF8F-AC11-4E68-B71C-625FC956C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Performed end-to-end data analysis on crowdfunding dataset.</a:t>
            </a:r>
          </a:p>
          <a:p>
            <a:r>
              <a:rPr lang="en-IN" dirty="0"/>
              <a:t>Applied advanced SQL techniques for data extraction.</a:t>
            </a:r>
          </a:p>
          <a:p>
            <a:r>
              <a:rPr lang="en-IN" dirty="0"/>
              <a:t>Built dashboards in Excel, Tableau, and Power BI.</a:t>
            </a:r>
          </a:p>
          <a:p>
            <a:r>
              <a:rPr lang="en-IN" dirty="0"/>
              <a:t>Identified key funding trends and success patterns.</a:t>
            </a:r>
          </a:p>
          <a:p>
            <a:r>
              <a:rPr lang="en-IN" dirty="0"/>
              <a:t>Demonstrated strong data analysis and BI tool skills.</a:t>
            </a:r>
          </a:p>
        </p:txBody>
      </p:sp>
    </p:spTree>
    <p:extLst>
      <p:ext uri="{BB962C8B-B14F-4D97-AF65-F5344CB8AC3E}">
        <p14:creationId xmlns:p14="http://schemas.microsoft.com/office/powerpoint/2010/main" val="1571228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643B-9B17-3F79-DF8B-311F70F7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💡 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88B8-ABAA-3187-EF27-A6282EC35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marketing on high-performing categories.</a:t>
            </a:r>
          </a:p>
          <a:p>
            <a:r>
              <a:rPr lang="en-US" dirty="0"/>
              <a:t>Improve screening criteria to reduce failure rate.</a:t>
            </a:r>
          </a:p>
          <a:p>
            <a:r>
              <a:rPr lang="en-US" dirty="0"/>
              <a:t>Target regions with lower participation for expansion.</a:t>
            </a:r>
          </a:p>
          <a:p>
            <a:r>
              <a:rPr lang="en-US" dirty="0"/>
              <a:t>Promote successful project case studies to increase trust.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082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91</TotalTime>
  <Words>569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Rounded MT Bold</vt:lpstr>
      <vt:lpstr>Tw Cen MT</vt:lpstr>
      <vt:lpstr>Circuit</vt:lpstr>
      <vt:lpstr> Crowdfunding Projects Performance &amp; Analytics</vt:lpstr>
      <vt:lpstr>PowerPoint Presentation</vt:lpstr>
      <vt:lpstr> Introduction</vt:lpstr>
      <vt:lpstr> 📊 KPIs &amp; Insights Slide   Key Performance Indicators (KPIs)</vt:lpstr>
      <vt:lpstr>🔎 Key Insights</vt:lpstr>
      <vt:lpstr>Excel Dashboard Slide   📊 Excel Dashboard Highlights</vt:lpstr>
      <vt:lpstr>Excel Dashboard Image </vt:lpstr>
      <vt:lpstr>Tableau Dashboard Slide  📈 Tableau Dashboard Highlights</vt:lpstr>
      <vt:lpstr>Tableau Dashboard Image</vt:lpstr>
      <vt:lpstr>Power BI Dashboard Slide  📊 Power BI Dashboard Highlights</vt:lpstr>
      <vt:lpstr>Power BI Dashboard Image </vt:lpstr>
      <vt:lpstr>SQL Queries Output Slide   SQL Analysis Performed</vt:lpstr>
      <vt:lpstr>SQL Queries Output Image </vt:lpstr>
      <vt:lpstr>Project Summary Slide  🎯 Project Summary</vt:lpstr>
      <vt:lpstr>💡 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Raxit Pansuriya</dc:creator>
  <cp:lastModifiedBy>Lenovo</cp:lastModifiedBy>
  <cp:revision>2</cp:revision>
  <dcterms:created xsi:type="dcterms:W3CDTF">2026-03-04T15:18:12Z</dcterms:created>
  <dcterms:modified xsi:type="dcterms:W3CDTF">2026-03-05T03:58:44Z</dcterms:modified>
</cp:coreProperties>
</file>